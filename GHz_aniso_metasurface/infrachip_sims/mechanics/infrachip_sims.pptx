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80"/>
    <a:srgbClr val="181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DE8A7-3739-0495-BE14-314FA3E44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AE3E62-9805-7D28-98E1-DDB7B7427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371D4-9955-EB92-88E2-3400E3389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2F8C-1FB3-4246-A764-30FB939826E5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F515F-0C2F-40EA-712A-7F2C046C3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F2EED-53EB-0FEA-62B4-6E0DFBB16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6265-CC11-40A1-B474-44A495612D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383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D6E75-16BE-5040-3096-D97741A38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B8DD8-1656-E324-B8A3-3DF7E6966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AD7A4-4EFD-6890-6C1B-D91594284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2F8C-1FB3-4246-A764-30FB939826E5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E71F2-99F3-0977-3152-F37386622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24AE8-E592-C244-24AD-F3771D7A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6265-CC11-40A1-B474-44A495612D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9511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128A5-6CBF-E486-F2B0-76F8BD051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7EF29-7BC1-6170-A9E8-8697124A6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CD901-EF0F-DA3A-C885-F5BA01F55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2F8C-1FB3-4246-A764-30FB939826E5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45C6-E7B3-DD0D-C5BD-0BA3CAB43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7EE8-404E-0662-EB5E-585404F8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6265-CC11-40A1-B474-44A495612D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1119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15270-E777-9AE4-C757-ED0846691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9764C-677E-F14B-4EFC-469A1B8A7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AC9ED-599E-F3F1-F237-6093545AD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FFD56-98ED-2777-B8D7-FB754541D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2F8C-1FB3-4246-A764-30FB939826E5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7418D-01EE-68C4-6653-DF7C0DC80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EDE30-DBD7-C6A8-3DE7-412FCFC03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6265-CC11-40A1-B474-44A495612D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8790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B3EB6-F6EE-E8C8-7559-BED300596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6FD84-0014-89C9-ACF2-9AE53F587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DF56F-2061-4BB3-935A-8B1475908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309DB7-BA1A-D879-967B-287F3D3A5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7ECA85-268F-249B-BE51-B901A79011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4A8362-E373-E40D-C4E4-82FF0F670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2F8C-1FB3-4246-A764-30FB939826E5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FE180-1488-B86D-4B03-B35496F3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3F972C-F18F-957E-5902-020B1891F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6265-CC11-40A1-B474-44A495612D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633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2BB6A-D34C-C00F-E1A3-A96A1FA03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68F285-FA58-584A-CD1A-F5E4CB90D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2F8C-1FB3-4246-A764-30FB939826E5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54E47B-8572-68E6-136C-FC7D46D7A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B38F0-61C0-EB21-5347-39AA1FCAB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6265-CC11-40A1-B474-44A495612D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17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2A090A-32D3-5B36-BDD2-B849427B4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2F8C-1FB3-4246-A764-30FB939826E5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01D909-4948-0273-8594-B185FB356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F8329-E5E6-3895-5DD1-8652511CA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6265-CC11-40A1-B474-44A495612D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148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3DEF3-E1BC-718F-7A6F-42DC56F8A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79DAB-2790-4049-F96D-09C26282C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D1FEA-2B8D-EC22-9B14-A68B59800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2EBEC-D066-BEAC-D002-84227EF84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2F8C-1FB3-4246-A764-30FB939826E5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20805-0BB6-E647-A045-6EB15E816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68DBB-A7CB-B999-27CF-1EE84A8CC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6265-CC11-40A1-B474-44A495612D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21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DCC68-6C83-AB1E-21DB-B7DC46CE4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D0A218-55A7-4C97-F75E-7D4DBEBEFF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3827D-DEF7-19FF-6981-74E596823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735A7-47E2-F310-599D-AA0987724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2F8C-1FB3-4246-A764-30FB939826E5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7BDC9-080E-B3EA-3028-4EF277B3A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D9DAA-2AD1-8286-CD4C-F74BE1EC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6265-CC11-40A1-B474-44A495612D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1026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B375C-30C1-EAC5-E018-3B62A4B31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705CA0-6DF5-8B27-3336-5F71F6E29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15E70-CC26-B4EC-928E-6B0F61D30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2F8C-1FB3-4246-A764-30FB939826E5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E06A-18DA-B3E6-7B06-185109CAE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17017-2077-87CE-05B5-E660D8CDC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6265-CC11-40A1-B474-44A495612D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472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5C31B9-E024-843E-3617-50BC08B41C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8536B-8175-3DB9-C335-2A27BDC40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94D24-7CC1-8950-F4E8-AA2D8A6CA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2F8C-1FB3-4246-A764-30FB939826E5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D2069-D77E-41C1-1CC1-555C001D7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CAC0B-D23B-552E-32A8-F5906D5CC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6265-CC11-40A1-B474-44A495612D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68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6E257D-65F3-9D98-9023-240D36E8F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F0F5E-41EE-B867-14EE-8DF2731CC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7FAE7-E107-CAB0-F5F1-9BBB672CE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C2F8C-1FB3-4246-A764-30FB939826E5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025B3-2EF9-50A3-4CF6-57BCF0651C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28DAE-5162-47C4-8B77-9262EE51A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F6265-CC11-40A1-B474-44A495612D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80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11BA5A-2889-C88E-7380-AED748C01FD4}"/>
              </a:ext>
            </a:extLst>
          </p:cNvPr>
          <p:cNvSpPr txBox="1"/>
          <p:nvPr/>
        </p:nvSpPr>
        <p:spPr>
          <a:xfrm>
            <a:off x="0" y="51758"/>
            <a:ext cx="1123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Infrachip</a:t>
            </a:r>
            <a:endParaRPr lang="en-GB" b="1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6711FA-3BBF-6D2C-86E1-1ADEFA33E275}"/>
              </a:ext>
            </a:extLst>
          </p:cNvPr>
          <p:cNvSpPr txBox="1"/>
          <p:nvPr/>
        </p:nvSpPr>
        <p:spPr>
          <a:xfrm>
            <a:off x="0" y="543464"/>
            <a:ext cx="23396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/>
              <a:t>1. mechanical simulations</a:t>
            </a:r>
            <a:endParaRPr lang="en-GB" sz="1400" b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641097-4D8A-222B-DEEA-A3AFA32498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902" r="36091"/>
          <a:stretch/>
        </p:blipFill>
        <p:spPr>
          <a:xfrm>
            <a:off x="269562" y="1142075"/>
            <a:ext cx="1708030" cy="45738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D5BEFA-2616-2292-ECB7-8C07AC0AF809}"/>
              </a:ext>
            </a:extLst>
          </p:cNvPr>
          <p:cNvSpPr txBox="1"/>
          <p:nvPr/>
        </p:nvSpPr>
        <p:spPr>
          <a:xfrm>
            <a:off x="674575" y="3059667"/>
            <a:ext cx="898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LiNbO</a:t>
            </a:r>
            <a:r>
              <a:rPr lang="en-US" baseline="-25000"/>
              <a:t>3</a:t>
            </a:r>
            <a:endParaRPr lang="en-GB" baseline="-25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14EF5F-3344-6F42-25D5-1173982AB05C}"/>
              </a:ext>
            </a:extLst>
          </p:cNvPr>
          <p:cNvSpPr txBox="1"/>
          <p:nvPr/>
        </p:nvSpPr>
        <p:spPr>
          <a:xfrm>
            <a:off x="558652" y="788949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air</a:t>
            </a:r>
            <a:endParaRPr lang="en-GB" baseline="-250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80D872-0CF5-A97C-AE90-152C326E4648}"/>
              </a:ext>
            </a:extLst>
          </p:cNvPr>
          <p:cNvCxnSpPr>
            <a:cxnSpLocks/>
          </p:cNvCxnSpPr>
          <p:nvPr/>
        </p:nvCxnSpPr>
        <p:spPr>
          <a:xfrm>
            <a:off x="890588" y="1078706"/>
            <a:ext cx="184114" cy="354203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4EFCE7C-047C-9FB9-7B45-98B4615A76BD}"/>
              </a:ext>
            </a:extLst>
          </p:cNvPr>
          <p:cNvSpPr txBox="1"/>
          <p:nvPr/>
        </p:nvSpPr>
        <p:spPr>
          <a:xfrm>
            <a:off x="1363791" y="957409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</a:t>
            </a:r>
            <a:endParaRPr lang="en-GB" baseline="-25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1A6352-8C54-19AC-1806-41667390D904}"/>
              </a:ext>
            </a:extLst>
          </p:cNvPr>
          <p:cNvSpPr/>
          <p:nvPr/>
        </p:nvSpPr>
        <p:spPr>
          <a:xfrm>
            <a:off x="626269" y="1452562"/>
            <a:ext cx="333375" cy="666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779F8E-F86F-B3EA-EF34-F943EC4F4D76}"/>
              </a:ext>
            </a:extLst>
          </p:cNvPr>
          <p:cNvSpPr/>
          <p:nvPr/>
        </p:nvSpPr>
        <p:spPr>
          <a:xfrm>
            <a:off x="1297168" y="1451875"/>
            <a:ext cx="333375" cy="666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9744E6F-B66E-9A9E-03E0-4097C876668A}"/>
              </a:ext>
            </a:extLst>
          </p:cNvPr>
          <p:cNvCxnSpPr>
            <a:cxnSpLocks/>
          </p:cNvCxnSpPr>
          <p:nvPr/>
        </p:nvCxnSpPr>
        <p:spPr>
          <a:xfrm>
            <a:off x="1511614" y="1252822"/>
            <a:ext cx="60011" cy="23069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9D7E575-F747-67B3-203F-BD0413C8D212}"/>
              </a:ext>
            </a:extLst>
          </p:cNvPr>
          <p:cNvCxnSpPr>
            <a:cxnSpLocks/>
          </p:cNvCxnSpPr>
          <p:nvPr/>
        </p:nvCxnSpPr>
        <p:spPr>
          <a:xfrm flipH="1">
            <a:off x="881063" y="1259681"/>
            <a:ext cx="628650" cy="23098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27" name="Picture 26" descr="A diagram of a cylinder with a rectangle and a rectangle with a rectangle with a rectangle with a rectangle with a rectangle with a rectangle with a rectangle with a&#10;&#10;Description automatically generated">
            <a:extLst>
              <a:ext uri="{FF2B5EF4-FFF2-40B4-BE49-F238E27FC236}">
                <a16:creationId xmlns:a16="http://schemas.microsoft.com/office/drawing/2014/main" id="{3CF0315F-FA6D-3294-04A5-CEB42BAED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8" r="23026" b="47126"/>
          <a:stretch/>
        </p:blipFill>
        <p:spPr>
          <a:xfrm>
            <a:off x="2294733" y="1925176"/>
            <a:ext cx="2950127" cy="300764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A90A3D9-F5B2-553C-CC17-75C2EF91CC15}"/>
              </a:ext>
            </a:extLst>
          </p:cNvPr>
          <p:cNvSpPr txBox="1"/>
          <p:nvPr/>
        </p:nvSpPr>
        <p:spPr>
          <a:xfrm>
            <a:off x="5837881" y="600784"/>
            <a:ext cx="3209533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/>
              <a:t>Material parameters </a:t>
            </a:r>
          </a:p>
          <a:p>
            <a:r>
              <a:rPr lang="en-US" sz="1100"/>
              <a:t>[Bai et al., </a:t>
            </a:r>
            <a:r>
              <a:rPr lang="pt-BR" sz="1100"/>
              <a:t>J. Phys.: Conf. Ser. 1637 012064 (2020)</a:t>
            </a:r>
            <a:r>
              <a:rPr lang="en-US" sz="1100"/>
              <a:t>]</a:t>
            </a:r>
          </a:p>
          <a:p>
            <a:r>
              <a:rPr lang="en-US" sz="1400" b="1"/>
              <a:t>c-axis (Z-cut)</a:t>
            </a:r>
            <a:endParaRPr lang="en-GB" sz="1400" b="1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DEAF339-DC25-7F75-1CF1-370159AB3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7881" y="1609626"/>
            <a:ext cx="2690832" cy="619130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7FCE03F-6368-3C11-E9B8-25C9187EDB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7882" y="2471729"/>
            <a:ext cx="4429157" cy="2371742"/>
          </a:xfrm>
          <a:prstGeom prst="rect">
            <a:avLst/>
          </a:prstGeom>
          <a:ln w="28575">
            <a:solidFill>
              <a:schemeClr val="accent5"/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6BB7D0F-4E96-3146-649E-FDA6172096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7882" y="5015831"/>
            <a:ext cx="5972219" cy="700093"/>
          </a:xfrm>
          <a:prstGeom prst="rect">
            <a:avLst/>
          </a:prstGeom>
          <a:ln w="28575">
            <a:solidFill>
              <a:schemeClr val="accent5"/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87684A2-0C2F-ABDB-D46D-7FF17D55ECA5}"/>
              </a:ext>
            </a:extLst>
          </p:cNvPr>
          <p:cNvSpPr txBox="1"/>
          <p:nvPr/>
        </p:nvSpPr>
        <p:spPr>
          <a:xfrm>
            <a:off x="10584180" y="2705100"/>
            <a:ext cx="13676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compliance</a:t>
            </a:r>
          </a:p>
          <a:p>
            <a:r>
              <a:rPr lang="en-US"/>
              <a:t>matrix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675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020DCEB-8F77-43FA-07E4-4E210DC9BFF1}"/>
              </a:ext>
            </a:extLst>
          </p:cNvPr>
          <p:cNvSpPr/>
          <p:nvPr/>
        </p:nvSpPr>
        <p:spPr>
          <a:xfrm>
            <a:off x="895349" y="2114548"/>
            <a:ext cx="383381" cy="165099"/>
          </a:xfrm>
          <a:custGeom>
            <a:avLst/>
            <a:gdLst>
              <a:gd name="connsiteX0" fmla="*/ 0 w 433388"/>
              <a:gd name="connsiteY0" fmla="*/ 188119 h 213798"/>
              <a:gd name="connsiteX1" fmla="*/ 250032 w 433388"/>
              <a:gd name="connsiteY1" fmla="*/ 197644 h 213798"/>
              <a:gd name="connsiteX2" fmla="*/ 433388 w 433388"/>
              <a:gd name="connsiteY2" fmla="*/ 0 h 213798"/>
              <a:gd name="connsiteX0" fmla="*/ 0 w 461963"/>
              <a:gd name="connsiteY0" fmla="*/ 230981 h 238831"/>
              <a:gd name="connsiteX1" fmla="*/ 278607 w 461963"/>
              <a:gd name="connsiteY1" fmla="*/ 197644 h 238831"/>
              <a:gd name="connsiteX2" fmla="*/ 461963 w 461963"/>
              <a:gd name="connsiteY2" fmla="*/ 0 h 238831"/>
              <a:gd name="connsiteX0" fmla="*/ 0 w 461963"/>
              <a:gd name="connsiteY0" fmla="*/ 230981 h 233827"/>
              <a:gd name="connsiteX1" fmla="*/ 278607 w 461963"/>
              <a:gd name="connsiteY1" fmla="*/ 197644 h 233827"/>
              <a:gd name="connsiteX2" fmla="*/ 461963 w 461963"/>
              <a:gd name="connsiteY2" fmla="*/ 0 h 233827"/>
              <a:gd name="connsiteX0" fmla="*/ 0 w 461963"/>
              <a:gd name="connsiteY0" fmla="*/ 230981 h 231892"/>
              <a:gd name="connsiteX1" fmla="*/ 309564 w 461963"/>
              <a:gd name="connsiteY1" fmla="*/ 154781 h 231892"/>
              <a:gd name="connsiteX2" fmla="*/ 461963 w 461963"/>
              <a:gd name="connsiteY2" fmla="*/ 0 h 231892"/>
              <a:gd name="connsiteX0" fmla="*/ 0 w 416719"/>
              <a:gd name="connsiteY0" fmla="*/ 159544 h 172506"/>
              <a:gd name="connsiteX1" fmla="*/ 264320 w 416719"/>
              <a:gd name="connsiteY1" fmla="*/ 154781 h 172506"/>
              <a:gd name="connsiteX2" fmla="*/ 416719 w 416719"/>
              <a:gd name="connsiteY2" fmla="*/ 0 h 172506"/>
              <a:gd name="connsiteX0" fmla="*/ 0 w 416719"/>
              <a:gd name="connsiteY0" fmla="*/ 159544 h 162717"/>
              <a:gd name="connsiteX1" fmla="*/ 242889 w 416719"/>
              <a:gd name="connsiteY1" fmla="*/ 128587 h 162717"/>
              <a:gd name="connsiteX2" fmla="*/ 416719 w 416719"/>
              <a:gd name="connsiteY2" fmla="*/ 0 h 162717"/>
              <a:gd name="connsiteX0" fmla="*/ 0 w 383381"/>
              <a:gd name="connsiteY0" fmla="*/ 161926 h 165099"/>
              <a:gd name="connsiteX1" fmla="*/ 242889 w 383381"/>
              <a:gd name="connsiteY1" fmla="*/ 130969 h 165099"/>
              <a:gd name="connsiteX2" fmla="*/ 383381 w 383381"/>
              <a:gd name="connsiteY2" fmla="*/ 0 h 165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3381" h="165099">
                <a:moveTo>
                  <a:pt x="0" y="161926"/>
                </a:moveTo>
                <a:cubicBezTo>
                  <a:pt x="119857" y="170459"/>
                  <a:pt x="170658" y="162322"/>
                  <a:pt x="242889" y="130969"/>
                </a:cubicBezTo>
                <a:cubicBezTo>
                  <a:pt x="315120" y="99616"/>
                  <a:pt x="327818" y="83145"/>
                  <a:pt x="383381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EFAF83-3C00-1BA8-9A78-9AD26E0E1A52}"/>
              </a:ext>
            </a:extLst>
          </p:cNvPr>
          <p:cNvSpPr txBox="1"/>
          <p:nvPr/>
        </p:nvSpPr>
        <p:spPr>
          <a:xfrm>
            <a:off x="189782" y="215661"/>
            <a:ext cx="2155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Rotazioni per Y-cut</a:t>
            </a:r>
            <a:endParaRPr lang="en-GB" b="1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78EF30-2094-5C3B-1247-F7AEA6B83BDF}"/>
              </a:ext>
            </a:extLst>
          </p:cNvPr>
          <p:cNvGrpSpPr/>
          <p:nvPr/>
        </p:nvGrpSpPr>
        <p:grpSpPr>
          <a:xfrm>
            <a:off x="277892" y="913520"/>
            <a:ext cx="1979561" cy="1522361"/>
            <a:chOff x="-21364" y="810883"/>
            <a:chExt cx="1979561" cy="1522361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08B7CB3-CE56-368B-C5E8-EAA1C5192495}"/>
                </a:ext>
              </a:extLst>
            </p:cNvPr>
            <p:cNvCxnSpPr/>
            <p:nvPr/>
          </p:nvCxnSpPr>
          <p:spPr>
            <a:xfrm flipV="1">
              <a:off x="759125" y="810883"/>
              <a:ext cx="0" cy="1199072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F640000-2E49-5C4A-D333-D56F57DAEC05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358661" y="1410419"/>
              <a:ext cx="0" cy="1199072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6AB0018-23E7-4BEE-EF81-A22F05403B44}"/>
                </a:ext>
              </a:extLst>
            </p:cNvPr>
            <p:cNvCxnSpPr>
              <a:cxnSpLocks/>
            </p:cNvCxnSpPr>
            <p:nvPr/>
          </p:nvCxnSpPr>
          <p:spPr>
            <a:xfrm rot="13500000" flipV="1">
              <a:off x="435836" y="1876044"/>
              <a:ext cx="0" cy="91440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AE2AF60-5F11-3686-7B43-F12F9AF024D1}"/>
              </a:ext>
            </a:extLst>
          </p:cNvPr>
          <p:cNvSpPr txBox="1"/>
          <p:nvPr/>
        </p:nvSpPr>
        <p:spPr>
          <a:xfrm>
            <a:off x="695743" y="72885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</a:t>
            </a:r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A5DB64-6A3D-514B-068F-F44D31BCBF6A}"/>
              </a:ext>
            </a:extLst>
          </p:cNvPr>
          <p:cNvSpPr txBox="1"/>
          <p:nvPr/>
        </p:nvSpPr>
        <p:spPr>
          <a:xfrm>
            <a:off x="1947754" y="211259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</a:t>
            </a:r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793EF4-DDE9-601C-1988-F024C50B2966}"/>
              </a:ext>
            </a:extLst>
          </p:cNvPr>
          <p:cNvSpPr txBox="1"/>
          <p:nvPr/>
        </p:nvSpPr>
        <p:spPr>
          <a:xfrm>
            <a:off x="540893" y="263291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Z</a:t>
            </a:r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BC8C9E-8D23-B86C-B9CB-5CBF841A731F}"/>
              </a:ext>
            </a:extLst>
          </p:cNvPr>
          <p:cNvSpPr/>
          <p:nvPr/>
        </p:nvSpPr>
        <p:spPr>
          <a:xfrm>
            <a:off x="1058382" y="1278294"/>
            <a:ext cx="889372" cy="834295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C8EA1D-F866-437E-0A20-D4AD733FB308}"/>
              </a:ext>
            </a:extLst>
          </p:cNvPr>
          <p:cNvSpPr txBox="1"/>
          <p:nvPr/>
        </p:nvSpPr>
        <p:spPr>
          <a:xfrm>
            <a:off x="2104207" y="913520"/>
            <a:ext cx="2176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Comsol</a:t>
            </a:r>
          </a:p>
          <a:p>
            <a:r>
              <a:rPr lang="en-US"/>
              <a:t>2D simulation plane</a:t>
            </a:r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81CCB8A-1C1F-579E-A042-4000EFA1717D}"/>
              </a:ext>
            </a:extLst>
          </p:cNvPr>
          <p:cNvSpPr/>
          <p:nvPr/>
        </p:nvSpPr>
        <p:spPr>
          <a:xfrm>
            <a:off x="1520890" y="1048206"/>
            <a:ext cx="587828" cy="426031"/>
          </a:xfrm>
          <a:custGeom>
            <a:avLst/>
            <a:gdLst>
              <a:gd name="connsiteX0" fmla="*/ 587828 w 587828"/>
              <a:gd name="connsiteY0" fmla="*/ 24814 h 426031"/>
              <a:gd name="connsiteX1" fmla="*/ 121298 w 587828"/>
              <a:gd name="connsiteY1" fmla="*/ 43476 h 426031"/>
              <a:gd name="connsiteX2" fmla="*/ 0 w 587828"/>
              <a:gd name="connsiteY2" fmla="*/ 426031 h 426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7828" h="426031">
                <a:moveTo>
                  <a:pt x="587828" y="24814"/>
                </a:moveTo>
                <a:cubicBezTo>
                  <a:pt x="403548" y="710"/>
                  <a:pt x="219269" y="-23393"/>
                  <a:pt x="121298" y="43476"/>
                </a:cubicBezTo>
                <a:cubicBezTo>
                  <a:pt x="23327" y="110345"/>
                  <a:pt x="11663" y="268188"/>
                  <a:pt x="0" y="426031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FB3FB8-6AC2-2C23-1DD1-717196B1901B}"/>
              </a:ext>
            </a:extLst>
          </p:cNvPr>
          <p:cNvSpPr txBox="1"/>
          <p:nvPr/>
        </p:nvSpPr>
        <p:spPr>
          <a:xfrm>
            <a:off x="2616778" y="1846578"/>
            <a:ext cx="1883529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Symbol" panose="05050102010706020507" pitchFamily="18" charset="2"/>
              </a:rPr>
              <a:t>g </a:t>
            </a:r>
            <a:r>
              <a:rPr lang="en-US">
                <a:solidFill>
                  <a:srgbClr val="FF0000"/>
                </a:solidFill>
              </a:rPr>
              <a:t>= 0</a:t>
            </a:r>
            <a:r>
              <a:rPr lang="en-US"/>
              <a:t> rotation: </a:t>
            </a:r>
          </a:p>
          <a:p>
            <a:r>
              <a:rPr lang="en-US" b="1"/>
              <a:t>Y-X plane (Y-cut)</a:t>
            </a:r>
          </a:p>
          <a:p>
            <a:r>
              <a:rPr lang="en-US" b="1">
                <a:solidFill>
                  <a:srgbClr val="FF0000"/>
                </a:solidFill>
                <a:latin typeface="Symbol" panose="05050102010706020507" pitchFamily="18" charset="2"/>
              </a:rPr>
              <a:t>g</a:t>
            </a:r>
            <a:r>
              <a:rPr lang="en-US">
                <a:solidFill>
                  <a:srgbClr val="FF0000"/>
                </a:solidFill>
                <a:latin typeface="Symbol" panose="05050102010706020507" pitchFamily="18" charset="2"/>
              </a:rPr>
              <a:t> </a:t>
            </a:r>
            <a:r>
              <a:rPr lang="en-US">
                <a:solidFill>
                  <a:srgbClr val="FF0000"/>
                </a:solidFill>
              </a:rPr>
              <a:t>= </a:t>
            </a:r>
            <a:r>
              <a:rPr lang="en-US">
                <a:solidFill>
                  <a:srgbClr val="FF0000"/>
                </a:solidFill>
                <a:latin typeface="Symbol" panose="05050102010706020507" pitchFamily="18" charset="2"/>
              </a:rPr>
              <a:t>p</a:t>
            </a:r>
            <a:r>
              <a:rPr lang="en-US">
                <a:solidFill>
                  <a:srgbClr val="FF0000"/>
                </a:solidFill>
              </a:rPr>
              <a:t>/2</a:t>
            </a:r>
            <a:r>
              <a:rPr lang="en-US"/>
              <a:t> rotation: </a:t>
            </a:r>
          </a:p>
          <a:p>
            <a:r>
              <a:rPr lang="en-US" b="1"/>
              <a:t>Y-Z plane (Y-cut)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561F60-8DAF-8CCF-D927-73835A8EDAEF}"/>
              </a:ext>
            </a:extLst>
          </p:cNvPr>
          <p:cNvSpPr txBox="1"/>
          <p:nvPr/>
        </p:nvSpPr>
        <p:spPr>
          <a:xfrm>
            <a:off x="1087039" y="2127081"/>
            <a:ext cx="27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Symbol" panose="05050102010706020507" pitchFamily="18" charset="2"/>
              </a:rPr>
              <a:t>g</a:t>
            </a:r>
            <a:endParaRPr lang="en-GB">
              <a:solidFill>
                <a:srgbClr val="FF0000"/>
              </a:solidFill>
              <a:latin typeface="Symbol" panose="05050102010706020507" pitchFamily="18" charset="2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A5705CF-B810-2769-C575-AD036DB1D3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414" r="34292"/>
          <a:stretch/>
        </p:blipFill>
        <p:spPr>
          <a:xfrm>
            <a:off x="911974" y="3164458"/>
            <a:ext cx="1491886" cy="369354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FA809C6-4556-D290-ACBD-63DF71103924}"/>
              </a:ext>
            </a:extLst>
          </p:cNvPr>
          <p:cNvSpPr txBox="1"/>
          <p:nvPr/>
        </p:nvSpPr>
        <p:spPr>
          <a:xfrm>
            <a:off x="2257453" y="3366734"/>
            <a:ext cx="13596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Symbol" panose="05050102010706020507" pitchFamily="18" charset="2"/>
              </a:rPr>
              <a:t>g </a:t>
            </a:r>
            <a:r>
              <a:rPr lang="en-US"/>
              <a:t>= 0</a:t>
            </a:r>
          </a:p>
          <a:p>
            <a:r>
              <a:rPr lang="en-US"/>
              <a:t>f = 998 MHz</a:t>
            </a:r>
            <a:endParaRPr lang="en-GB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B508DCB-A704-BBFB-40F3-6EB8C726ED14}"/>
              </a:ext>
            </a:extLst>
          </p:cNvPr>
          <p:cNvGrpSpPr/>
          <p:nvPr/>
        </p:nvGrpSpPr>
        <p:grpSpPr>
          <a:xfrm>
            <a:off x="5801081" y="73308"/>
            <a:ext cx="4798496" cy="7141152"/>
            <a:chOff x="6448152" y="584993"/>
            <a:chExt cx="3936198" cy="5857875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74DFBB6-E161-7F3F-2C1F-7DEAC0F13BB7}"/>
                </a:ext>
              </a:extLst>
            </p:cNvPr>
            <p:cNvGrpSpPr/>
            <p:nvPr/>
          </p:nvGrpSpPr>
          <p:grpSpPr>
            <a:xfrm>
              <a:off x="6448152" y="584993"/>
              <a:ext cx="3127070" cy="5857875"/>
              <a:chOff x="5777572" y="437796"/>
              <a:chExt cx="3127070" cy="5857875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587CF5B7-FC5E-B54A-45C0-E8BF151C29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47142" y="437796"/>
                <a:ext cx="2857500" cy="5857875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3DE34E1-0A33-1610-CB1F-2C5B63D6A880}"/>
                  </a:ext>
                </a:extLst>
              </p:cNvPr>
              <p:cNvSpPr txBox="1"/>
              <p:nvPr/>
            </p:nvSpPr>
            <p:spPr>
              <a:xfrm rot="16200000">
                <a:off x="5049552" y="3163900"/>
                <a:ext cx="18253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log(max(w)</a:t>
                </a:r>
                <a:r>
                  <a:rPr lang="en-US" baseline="-25000"/>
                  <a:t>topsurf</a:t>
                </a:r>
                <a:r>
                  <a:rPr lang="en-US"/>
                  <a:t>)</a:t>
                </a:r>
                <a:endParaRPr lang="en-GB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637F67D-10B1-2EEF-B100-88F5ADA77087}"/>
                </a:ext>
              </a:extLst>
            </p:cNvPr>
            <p:cNvGrpSpPr/>
            <p:nvPr/>
          </p:nvGrpSpPr>
          <p:grpSpPr>
            <a:xfrm>
              <a:off x="9522498" y="1098186"/>
              <a:ext cx="861852" cy="4852798"/>
              <a:chOff x="8024327" y="1098186"/>
              <a:chExt cx="861852" cy="4852798"/>
            </a:xfrm>
          </p:grpSpPr>
          <p:sp>
            <p:nvSpPr>
              <p:cNvPr id="31" name="Arrow: Up 30">
                <a:extLst>
                  <a:ext uri="{FF2B5EF4-FFF2-40B4-BE49-F238E27FC236}">
                    <a16:creationId xmlns:a16="http://schemas.microsoft.com/office/drawing/2014/main" id="{67B7CF8B-2B70-DA0D-4558-456CBAD69B92}"/>
                  </a:ext>
                </a:extLst>
              </p:cNvPr>
              <p:cNvSpPr/>
              <p:nvPr/>
            </p:nvSpPr>
            <p:spPr>
              <a:xfrm>
                <a:off x="8024327" y="1098186"/>
                <a:ext cx="401216" cy="4668132"/>
              </a:xfrm>
              <a:prstGeom prst="upArrow">
                <a:avLst/>
              </a:prstGeom>
              <a:gradFill>
                <a:gsLst>
                  <a:gs pos="0">
                    <a:srgbClr val="00FF80"/>
                  </a:gs>
                  <a:gs pos="100000">
                    <a:srgbClr val="1818FF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Symbol" panose="05050102010706020507" pitchFamily="18" charset="2"/>
                  </a:rPr>
                  <a:t>g</a:t>
                </a:r>
                <a:endParaRPr lang="en-GB">
                  <a:solidFill>
                    <a:schemeClr val="tx1"/>
                  </a:solidFill>
                  <a:latin typeface="Symbol" panose="05050102010706020507" pitchFamily="18" charset="2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E9EED7F-806E-B368-72D7-B8D67ADA8568}"/>
                  </a:ext>
                </a:extLst>
              </p:cNvPr>
              <p:cNvSpPr txBox="1"/>
              <p:nvPr/>
            </p:nvSpPr>
            <p:spPr>
              <a:xfrm>
                <a:off x="8325488" y="5581652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0</a:t>
                </a:r>
                <a:endParaRPr lang="en-GB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87FC4A5-5AEE-BF24-758C-803A96E2C4A2}"/>
                  </a:ext>
                </a:extLst>
              </p:cNvPr>
              <p:cNvSpPr txBox="1"/>
              <p:nvPr/>
            </p:nvSpPr>
            <p:spPr>
              <a:xfrm>
                <a:off x="8369691" y="1104905"/>
                <a:ext cx="5164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>
                    <a:latin typeface="Symbol" panose="05050102010706020507" pitchFamily="18" charset="2"/>
                  </a:rPr>
                  <a:t>p</a:t>
                </a:r>
                <a:r>
                  <a:rPr lang="en-US"/>
                  <a:t>/2</a:t>
                </a:r>
                <a:endParaRPr lang="en-GB"/>
              </a:p>
            </p:txBody>
          </p:sp>
        </p:grpSp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989D5E8-E391-EB97-C286-AD4E6D6F7346}"/>
              </a:ext>
            </a:extLst>
          </p:cNvPr>
          <p:cNvCxnSpPr/>
          <p:nvPr/>
        </p:nvCxnSpPr>
        <p:spPr>
          <a:xfrm>
            <a:off x="7091266" y="73308"/>
            <a:ext cx="0" cy="4025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BE44426-5BC3-FEE5-B854-53678EB3413B}"/>
              </a:ext>
            </a:extLst>
          </p:cNvPr>
          <p:cNvCxnSpPr>
            <a:cxnSpLocks/>
          </p:cNvCxnSpPr>
          <p:nvPr/>
        </p:nvCxnSpPr>
        <p:spPr>
          <a:xfrm flipV="1">
            <a:off x="7934131" y="6281275"/>
            <a:ext cx="0" cy="4025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648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AFEF59-2809-1952-30B7-473BA1AE6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27" y="1223476"/>
            <a:ext cx="5334000" cy="4000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F6C4D1-059E-CA1F-CD5A-26656FE54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094" y="1223476"/>
            <a:ext cx="5334000" cy="40005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BC1908-1640-1C93-E27C-0131A226FB4D}"/>
              </a:ext>
            </a:extLst>
          </p:cNvPr>
          <p:cNvCxnSpPr/>
          <p:nvPr/>
        </p:nvCxnSpPr>
        <p:spPr>
          <a:xfrm>
            <a:off x="2341984" y="1022199"/>
            <a:ext cx="0" cy="4025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107D70-9A34-09EE-74CC-C55B39922E5A}"/>
              </a:ext>
            </a:extLst>
          </p:cNvPr>
          <p:cNvCxnSpPr>
            <a:cxnSpLocks/>
          </p:cNvCxnSpPr>
          <p:nvPr/>
        </p:nvCxnSpPr>
        <p:spPr>
          <a:xfrm flipV="1">
            <a:off x="3343470" y="4821423"/>
            <a:ext cx="0" cy="4025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623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88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Symbol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Pitanti</dc:creator>
  <cp:lastModifiedBy>Alessandro Pitanti</cp:lastModifiedBy>
  <cp:revision>3</cp:revision>
  <dcterms:created xsi:type="dcterms:W3CDTF">2025-02-04T15:13:19Z</dcterms:created>
  <dcterms:modified xsi:type="dcterms:W3CDTF">2025-02-04T15:47:08Z</dcterms:modified>
</cp:coreProperties>
</file>