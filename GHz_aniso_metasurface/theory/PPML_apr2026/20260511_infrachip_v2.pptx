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1" r:id="rId7"/>
    <p:sldId id="262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B2B2B2"/>
    <a:srgbClr val="202020"/>
    <a:srgbClr val="323232"/>
    <a:srgbClr val="CC3300"/>
    <a:srgbClr val="CC0000"/>
    <a:srgbClr val="FF33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2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400685" y="342900"/>
            <a:ext cx="5531485" cy="286131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Optical simulations @PPML</a:t>
            </a:r>
            <a:endParaRPr lang="en-US"/>
          </a:p>
          <a:p>
            <a:endParaRPr lang="en-US"/>
          </a:p>
          <a:p>
            <a:r>
              <a:rPr lang="en-US"/>
              <a:t>Y-cut LiNbO3</a:t>
            </a:r>
            <a:endParaRPr lang="en-US"/>
          </a:p>
          <a:p>
            <a:r>
              <a:rPr lang="en-US"/>
              <a:t>300 nm thickness</a:t>
            </a:r>
            <a:endParaRPr lang="en-US"/>
          </a:p>
          <a:p>
            <a:r>
              <a:rPr lang="en-US"/>
              <a:t>circular holes on square lattice</a:t>
            </a:r>
            <a:endParaRPr lang="en-US"/>
          </a:p>
          <a:p>
            <a:endParaRPr lang="en-US"/>
          </a:p>
          <a:p>
            <a:r>
              <a:rPr lang="en-US" b="1"/>
              <a:t>Geometrical parameters:</a:t>
            </a:r>
            <a:endParaRPr lang="en-US" b="1"/>
          </a:p>
          <a:p>
            <a:r>
              <a:rPr lang="en-US"/>
              <a:t>lattice constant [a]</a:t>
            </a:r>
            <a:endParaRPr lang="en-US"/>
          </a:p>
          <a:p>
            <a:r>
              <a:rPr lang="en-US"/>
              <a:t>hole radius [r]</a:t>
            </a:r>
            <a:endParaRPr lang="en-US"/>
          </a:p>
          <a:p>
            <a:r>
              <a:rPr lang="en-US"/>
              <a:t>pattern angle [psi] with respect to crystal axis </a:t>
            </a:r>
            <a:endParaRPr lang="en-US"/>
          </a:p>
        </p:txBody>
      </p:sp>
      <p:grpSp>
        <p:nvGrpSpPr>
          <p:cNvPr id="31" name="Group 30"/>
          <p:cNvGrpSpPr/>
          <p:nvPr/>
        </p:nvGrpSpPr>
        <p:grpSpPr>
          <a:xfrm rot="20700000">
            <a:off x="6661785" y="3016885"/>
            <a:ext cx="3604260" cy="2577465"/>
            <a:chOff x="4804" y="6941"/>
            <a:chExt cx="4240" cy="3032"/>
          </a:xfrm>
        </p:grpSpPr>
        <p:grpSp>
          <p:nvGrpSpPr>
            <p:cNvPr id="16" name="Group 15"/>
            <p:cNvGrpSpPr/>
            <p:nvPr/>
          </p:nvGrpSpPr>
          <p:grpSpPr>
            <a:xfrm>
              <a:off x="4804" y="6941"/>
              <a:ext cx="4240" cy="404"/>
              <a:chOff x="4645" y="7136"/>
              <a:chExt cx="4240" cy="404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4645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7" name="Oval 6"/>
              <p:cNvSpPr/>
              <p:nvPr/>
            </p:nvSpPr>
            <p:spPr>
              <a:xfrm>
                <a:off x="5604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6563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7522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0" name="Oval 9"/>
              <p:cNvSpPr/>
              <p:nvPr/>
            </p:nvSpPr>
            <p:spPr>
              <a:xfrm>
                <a:off x="8481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4804" y="7817"/>
              <a:ext cx="4240" cy="404"/>
              <a:chOff x="4804" y="7893"/>
              <a:chExt cx="4240" cy="404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4804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5763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6722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7681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8640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4804" y="8693"/>
              <a:ext cx="4240" cy="404"/>
              <a:chOff x="4645" y="7136"/>
              <a:chExt cx="4240" cy="404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4645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5604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6563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7522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8481" y="7136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4804" y="9569"/>
              <a:ext cx="4240" cy="404"/>
              <a:chOff x="4804" y="7893"/>
              <a:chExt cx="4240" cy="404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4804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763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6722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7681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8640" y="7893"/>
                <a:ext cx="405" cy="405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6275705" y="2754630"/>
            <a:ext cx="3475990" cy="3475990"/>
            <a:chOff x="9535" y="3946"/>
            <a:chExt cx="5474" cy="5474"/>
          </a:xfrm>
        </p:grpSpPr>
        <p:cxnSp>
          <p:nvCxnSpPr>
            <p:cNvPr id="4" name="Straight Arrow Connector 3"/>
            <p:cNvCxnSpPr/>
            <p:nvPr/>
          </p:nvCxnSpPr>
          <p:spPr>
            <a:xfrm flipV="1">
              <a:off x="9565" y="3946"/>
              <a:ext cx="0" cy="547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rot="5400000" flipV="1">
              <a:off x="12272" y="6683"/>
              <a:ext cx="0" cy="5474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/>
          <p:cNvCxnSpPr/>
          <p:nvPr/>
        </p:nvCxnSpPr>
        <p:spPr>
          <a:xfrm flipV="1">
            <a:off x="6812280" y="4797425"/>
            <a:ext cx="4068445" cy="113284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7393305" y="3216910"/>
            <a:ext cx="795655" cy="243205"/>
          </a:xfrm>
          <a:prstGeom prst="line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7612380" y="3015615"/>
            <a:ext cx="153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</a:t>
            </a:r>
            <a:endParaRPr lang="en-US"/>
          </a:p>
        </p:txBody>
      </p:sp>
      <p:cxnSp>
        <p:nvCxnSpPr>
          <p:cNvPr id="37" name="Straight Connector 36"/>
          <p:cNvCxnSpPr>
            <a:stCxn id="9" idx="2"/>
            <a:endCxn id="9" idx="6"/>
          </p:cNvCxnSpPr>
          <p:nvPr/>
        </p:nvCxnSpPr>
        <p:spPr>
          <a:xfrm flipV="1">
            <a:off x="8796655" y="2971165"/>
            <a:ext cx="332105" cy="89535"/>
          </a:xfrm>
          <a:prstGeom prst="line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 Box 37"/>
          <p:cNvSpPr txBox="1"/>
          <p:nvPr/>
        </p:nvSpPr>
        <p:spPr>
          <a:xfrm>
            <a:off x="8752205" y="2543175"/>
            <a:ext cx="520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2r</a:t>
            </a:r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6814820" y="5997575"/>
            <a:ext cx="4065905" cy="254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 rot="840000">
            <a:off x="7526020" y="5748655"/>
            <a:ext cx="109220" cy="239395"/>
          </a:xfrm>
          <a:custGeom>
            <a:avLst/>
            <a:gdLst>
              <a:gd name="connsiteX0" fmla="*/ 0 w 378"/>
              <a:gd name="connsiteY0" fmla="*/ 0 h 831"/>
              <a:gd name="connsiteX1" fmla="*/ 330 w 378"/>
              <a:gd name="connsiteY1" fmla="*/ 301 h 831"/>
              <a:gd name="connsiteX2" fmla="*/ 370 w 378"/>
              <a:gd name="connsiteY2" fmla="*/ 831 h 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" h="831">
                <a:moveTo>
                  <a:pt x="0" y="0"/>
                </a:moveTo>
                <a:cubicBezTo>
                  <a:pt x="70" y="86"/>
                  <a:pt x="256" y="135"/>
                  <a:pt x="330" y="301"/>
                </a:cubicBezTo>
                <a:cubicBezTo>
                  <a:pt x="404" y="468"/>
                  <a:pt x="373" y="768"/>
                  <a:pt x="370" y="831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1" name="Text Box 40"/>
          <p:cNvSpPr txBox="1"/>
          <p:nvPr/>
        </p:nvSpPr>
        <p:spPr>
          <a:xfrm>
            <a:off x="7839075" y="5683885"/>
            <a:ext cx="5111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/>
              <a:t>psi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055" y="681990"/>
            <a:ext cx="8362950" cy="53721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825865" y="681990"/>
            <a:ext cx="191325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green - Txx</a:t>
            </a:r>
            <a:endParaRPr lang="en-US" sz="2400"/>
          </a:p>
          <a:p>
            <a:r>
              <a:rPr lang="en-US" sz="2400">
                <a:solidFill>
                  <a:srgbClr val="0070C0"/>
                </a:solidFill>
              </a:rPr>
              <a:t>blue - Tyy</a:t>
            </a:r>
            <a:endParaRPr lang="en-US" sz="2400">
              <a:solidFill>
                <a:srgbClr val="0070C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825865" y="513207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SET A</a:t>
            </a:r>
            <a:endParaRPr lang="en-US"/>
          </a:p>
          <a:p>
            <a:r>
              <a:rPr lang="en-US"/>
              <a:t>a = [900:50:1100];</a:t>
            </a:r>
            <a:endParaRPr lang="en-US"/>
          </a:p>
          <a:p>
            <a:r>
              <a:rPr lang="en-US"/>
              <a:t>r = [150:15:300];</a:t>
            </a:r>
            <a:endParaRPr lang="en-US"/>
          </a:p>
          <a:p>
            <a:r>
              <a:rPr lang="en-US"/>
              <a:t>psi = 0;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0230"/>
            <a:ext cx="8572500" cy="553402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825865" y="681990"/>
            <a:ext cx="191325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gradFill>
                  <a:gsLst>
                    <a:gs pos="0">
                      <a:srgbClr val="14CD68"/>
                    </a:gs>
                    <a:gs pos="100000">
                      <a:srgbClr val="0B6E38"/>
                    </a:gs>
                  </a:gsLst>
                  <a:lin scaled="0"/>
                </a:gradFill>
              </a:rPr>
              <a:t>green - Txx</a:t>
            </a:r>
            <a:endParaRPr lang="en-US" sz="2400"/>
          </a:p>
          <a:p>
            <a:r>
              <a:rPr lang="en-US" sz="2400">
                <a:solidFill>
                  <a:srgbClr val="0070C0"/>
                </a:solidFill>
              </a:rPr>
              <a:t>blue - Tyy</a:t>
            </a:r>
            <a:endParaRPr lang="en-US" sz="2400">
              <a:solidFill>
                <a:srgbClr val="0070C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825865" y="513207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SET B</a:t>
            </a:r>
            <a:endParaRPr lang="en-US"/>
          </a:p>
          <a:p>
            <a:r>
              <a:rPr lang="en-US"/>
              <a:t>a = [1200:50:1400];</a:t>
            </a:r>
            <a:endParaRPr lang="en-US"/>
          </a:p>
          <a:p>
            <a:r>
              <a:rPr lang="en-US"/>
              <a:t>r = [150:15:300];</a:t>
            </a:r>
            <a:endParaRPr lang="en-US"/>
          </a:p>
          <a:p>
            <a:r>
              <a:rPr lang="en-US"/>
              <a:t>psi = 0;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08940" y="307975"/>
            <a:ext cx="68249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if psi = 0, both Txy and Tyx =0</a:t>
            </a:r>
            <a:endParaRPr lang="en-US"/>
          </a:p>
          <a:p>
            <a:pPr algn="l"/>
            <a:r>
              <a:rPr lang="en-US"/>
              <a:t>psi = 45° both Txy and Tyx </a:t>
            </a:r>
            <a:r>
              <a:rPr lang="en-US" sz="2400">
                <a:latin typeface="C059" panose="00000500000000000000" charset="0"/>
                <a:cs typeface="C059" panose="00000500000000000000" charset="0"/>
              </a:rPr>
              <a:t>≠</a:t>
            </a:r>
            <a:r>
              <a:rPr lang="en-US">
                <a:sym typeface="+mn-ea"/>
              </a:rPr>
              <a:t>0 in the lab frame [</a:t>
            </a:r>
            <a:r>
              <a:rPr lang="en-US" b="1">
                <a:sym typeface="+mn-ea"/>
              </a:rPr>
              <a:t>achiral</a:t>
            </a:r>
            <a:r>
              <a:rPr lang="en-US">
                <a:sym typeface="+mn-ea"/>
              </a:rPr>
              <a:t>]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psi = 30° both Txy and Tyx </a:t>
            </a:r>
            <a:r>
              <a:rPr lang="en-US">
                <a:latin typeface="C059" panose="00000500000000000000" charset="0"/>
                <a:cs typeface="C059" panose="00000500000000000000" charset="0"/>
                <a:sym typeface="+mn-ea"/>
              </a:rPr>
              <a:t>≠</a:t>
            </a:r>
            <a:r>
              <a:rPr lang="en-US">
                <a:sym typeface="+mn-ea"/>
              </a:rPr>
              <a:t>0 in the lab frame [</a:t>
            </a:r>
            <a:r>
              <a:rPr lang="en-US" b="1">
                <a:sym typeface="+mn-ea"/>
              </a:rPr>
              <a:t>chiral</a:t>
            </a:r>
            <a:r>
              <a:rPr lang="en-US">
                <a:sym typeface="+mn-ea"/>
              </a:rPr>
              <a:t>]</a:t>
            </a:r>
            <a:endParaRPr lang="en-US">
              <a:latin typeface="C059" panose="00000500000000000000" charset="0"/>
              <a:cs typeface="C059" panose="00000500000000000000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443720" y="123825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SET C</a:t>
            </a:r>
            <a:endParaRPr lang="en-US"/>
          </a:p>
          <a:p>
            <a:r>
              <a:rPr lang="en-US"/>
              <a:t>a = [900:50:1100];</a:t>
            </a:r>
            <a:endParaRPr lang="en-US"/>
          </a:p>
          <a:p>
            <a:r>
              <a:rPr lang="en-US"/>
              <a:t>r = [150:15:300];</a:t>
            </a:r>
            <a:endParaRPr lang="en-US"/>
          </a:p>
          <a:p>
            <a:r>
              <a:rPr lang="en-US"/>
              <a:t>psi = 30;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9941560" y="1737995"/>
            <a:ext cx="17138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solidFill>
                  <a:srgbClr val="990000"/>
                </a:solidFill>
              </a:rPr>
              <a:t>red - Txy</a:t>
            </a:r>
            <a:endParaRPr lang="en-US" sz="2400">
              <a:solidFill>
                <a:srgbClr val="990000"/>
              </a:solidFill>
            </a:endParaRPr>
          </a:p>
          <a:p>
            <a:r>
              <a:rPr lang="en-US" sz="2400">
                <a:solidFill>
                  <a:srgbClr val="00B0F0"/>
                </a:solidFill>
              </a:rPr>
              <a:t>cyan - Tyx</a:t>
            </a:r>
            <a:endParaRPr lang="en-US" sz="2400">
              <a:solidFill>
                <a:srgbClr val="00B0F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940" y="1661160"/>
            <a:ext cx="8676640" cy="476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08940" y="307975"/>
            <a:ext cx="68249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/>
              <a:t>if psi = 0, both Txy and Tyx =0</a:t>
            </a:r>
            <a:endParaRPr lang="en-US"/>
          </a:p>
          <a:p>
            <a:pPr algn="l"/>
            <a:r>
              <a:rPr lang="en-US"/>
              <a:t>psi = 45° both Txy and Tyx </a:t>
            </a:r>
            <a:r>
              <a:rPr lang="en-US" sz="2400">
                <a:latin typeface="C059" panose="00000500000000000000" charset="0"/>
                <a:cs typeface="C059" panose="00000500000000000000" charset="0"/>
              </a:rPr>
              <a:t>≠</a:t>
            </a:r>
            <a:r>
              <a:rPr lang="en-US">
                <a:sym typeface="+mn-ea"/>
              </a:rPr>
              <a:t>0 in the lab frame [</a:t>
            </a:r>
            <a:r>
              <a:rPr lang="en-US" b="1">
                <a:sym typeface="+mn-ea"/>
              </a:rPr>
              <a:t>achiral</a:t>
            </a:r>
            <a:r>
              <a:rPr lang="en-US">
                <a:sym typeface="+mn-ea"/>
              </a:rPr>
              <a:t>]</a:t>
            </a:r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psi = 30° both Txy and Tyx </a:t>
            </a:r>
            <a:r>
              <a:rPr lang="en-US">
                <a:latin typeface="C059" panose="00000500000000000000" charset="0"/>
                <a:cs typeface="C059" panose="00000500000000000000" charset="0"/>
                <a:sym typeface="+mn-ea"/>
              </a:rPr>
              <a:t>≠</a:t>
            </a:r>
            <a:r>
              <a:rPr lang="en-US">
                <a:sym typeface="+mn-ea"/>
              </a:rPr>
              <a:t>0 in the lab frame [</a:t>
            </a:r>
            <a:r>
              <a:rPr lang="en-US" b="1">
                <a:sym typeface="+mn-ea"/>
              </a:rPr>
              <a:t>chiral</a:t>
            </a:r>
            <a:r>
              <a:rPr lang="en-US">
                <a:sym typeface="+mn-ea"/>
              </a:rPr>
              <a:t>]</a:t>
            </a:r>
            <a:endParaRPr lang="en-US">
              <a:latin typeface="C059" panose="00000500000000000000" charset="0"/>
              <a:cs typeface="C059" panose="00000500000000000000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443720" y="123825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SET D</a:t>
            </a:r>
            <a:endParaRPr lang="en-US"/>
          </a:p>
          <a:p>
            <a:r>
              <a:rPr lang="en-US"/>
              <a:t>a = [1200:50:1400];</a:t>
            </a:r>
            <a:endParaRPr lang="en-US"/>
          </a:p>
          <a:p>
            <a:r>
              <a:rPr lang="en-US"/>
              <a:t>r = [150:15:300];</a:t>
            </a:r>
            <a:endParaRPr lang="en-US"/>
          </a:p>
          <a:p>
            <a:r>
              <a:rPr lang="en-US"/>
              <a:t>psi = 30;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9941560" y="1737995"/>
            <a:ext cx="171386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400">
                <a:solidFill>
                  <a:srgbClr val="990000"/>
                </a:solidFill>
              </a:rPr>
              <a:t>red - Txy</a:t>
            </a:r>
            <a:endParaRPr lang="en-US" sz="2400">
              <a:solidFill>
                <a:srgbClr val="990000"/>
              </a:solidFill>
            </a:endParaRPr>
          </a:p>
          <a:p>
            <a:r>
              <a:rPr lang="en-US" sz="2400">
                <a:solidFill>
                  <a:srgbClr val="00B0F0"/>
                </a:solidFill>
              </a:rPr>
              <a:t>cyan - Tyx</a:t>
            </a:r>
            <a:endParaRPr lang="en-US" sz="2400">
              <a:solidFill>
                <a:srgbClr val="00B0F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85" y="1588770"/>
            <a:ext cx="8964295" cy="49231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9256395" y="3406775"/>
            <a:ext cx="2914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more than x3 times stronger!</a:t>
            </a:r>
            <a:endParaRPr 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60020" y="267335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Proposal</a:t>
            </a:r>
            <a:endParaRPr lang="en-US" b="1"/>
          </a:p>
        </p:txBody>
      </p:sp>
      <p:sp>
        <p:nvSpPr>
          <p:cNvPr id="6" name="Text Box 5"/>
          <p:cNvSpPr txBox="1"/>
          <p:nvPr/>
        </p:nvSpPr>
        <p:spPr>
          <a:xfrm>
            <a:off x="847090" y="1381760"/>
            <a:ext cx="4137025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solidFill>
                  <a:srgbClr val="7030A0"/>
                </a:solidFill>
              </a:rPr>
              <a:t>SET A</a:t>
            </a:r>
            <a:endParaRPr lang="en-US" sz="1600" b="1">
              <a:solidFill>
                <a:srgbClr val="7030A0"/>
              </a:solidFill>
            </a:endParaRPr>
          </a:p>
          <a:p>
            <a:r>
              <a:rPr lang="en-US" sz="1600"/>
              <a:t>11x5 ~100um x 100um membranes</a:t>
            </a:r>
            <a:endParaRPr lang="en-US" sz="1600"/>
          </a:p>
          <a:p>
            <a:r>
              <a:rPr lang="en-US" sz="1600"/>
              <a:t>a = [900:50:1100] -&gt; columns;</a:t>
            </a:r>
            <a:endParaRPr lang="en-US" sz="1600"/>
          </a:p>
          <a:p>
            <a:r>
              <a:rPr lang="en-US" sz="1600"/>
              <a:t>r = [150:15:300] </a:t>
            </a:r>
            <a:r>
              <a:rPr lang="en-US" sz="1600">
                <a:sym typeface="+mn-ea"/>
              </a:rPr>
              <a:t>-&gt; rows</a:t>
            </a:r>
            <a:r>
              <a:rPr lang="en-US" sz="1600"/>
              <a:t>;</a:t>
            </a:r>
            <a:endParaRPr lang="en-US" sz="1600"/>
          </a:p>
          <a:p>
            <a:r>
              <a:rPr lang="en-US" sz="1600"/>
              <a:t>psi = 0;</a:t>
            </a:r>
            <a:endParaRPr lang="en-US" sz="1600"/>
          </a:p>
          <a:p>
            <a:endParaRPr lang="en-US" sz="1600"/>
          </a:p>
          <a:p>
            <a:r>
              <a:rPr lang="en-US" sz="1600" b="1">
                <a:solidFill>
                  <a:srgbClr val="7030A0"/>
                </a:solidFill>
                <a:sym typeface="+mn-ea"/>
              </a:rPr>
              <a:t>SET B</a:t>
            </a:r>
            <a:endParaRPr lang="en-US" sz="1600" b="1">
              <a:solidFill>
                <a:srgbClr val="7030A0"/>
              </a:solidFill>
            </a:endParaRPr>
          </a:p>
          <a:p>
            <a:r>
              <a:rPr lang="en-US" sz="1600">
                <a:sym typeface="+mn-ea"/>
              </a:rPr>
              <a:t>11x5 ~100um x 100um membranes</a:t>
            </a:r>
            <a:endParaRPr lang="en-US" sz="1600"/>
          </a:p>
          <a:p>
            <a:r>
              <a:rPr lang="en-US" sz="1600">
                <a:sym typeface="+mn-ea"/>
              </a:rPr>
              <a:t>a = [1200:50:1400] -&gt; columns;</a:t>
            </a:r>
            <a:endParaRPr lang="en-US" sz="1600"/>
          </a:p>
          <a:p>
            <a:r>
              <a:rPr lang="en-US" sz="1600">
                <a:sym typeface="+mn-ea"/>
              </a:rPr>
              <a:t>r = [150:15:300] </a:t>
            </a:r>
            <a:r>
              <a:rPr lang="en-US" sz="1600">
                <a:sym typeface="+mn-ea"/>
              </a:rPr>
              <a:t>-&gt; rows</a:t>
            </a:r>
            <a:r>
              <a:rPr lang="en-US" sz="1600">
                <a:sym typeface="+mn-ea"/>
              </a:rPr>
              <a:t>;</a:t>
            </a:r>
            <a:endParaRPr lang="en-US" sz="1600"/>
          </a:p>
          <a:p>
            <a:r>
              <a:rPr lang="en-US" sz="1600">
                <a:sym typeface="+mn-ea"/>
              </a:rPr>
              <a:t>psi = 0;</a:t>
            </a:r>
            <a:endParaRPr lang="en-US" sz="160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201410" y="1381760"/>
            <a:ext cx="437769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600" b="1">
                <a:solidFill>
                  <a:srgbClr val="00B050"/>
                </a:solidFill>
              </a:rPr>
              <a:t>SET C</a:t>
            </a:r>
            <a:endParaRPr lang="en-US" sz="1600" b="1">
              <a:solidFill>
                <a:srgbClr val="00B050"/>
              </a:solidFill>
            </a:endParaRPr>
          </a:p>
          <a:p>
            <a:r>
              <a:rPr lang="en-US" sz="1600"/>
              <a:t>11x5 ~100um x 100um membranes</a:t>
            </a:r>
            <a:endParaRPr lang="en-US" sz="1600"/>
          </a:p>
          <a:p>
            <a:r>
              <a:rPr lang="en-US" sz="1600"/>
              <a:t>a = [900:50:1100] -&gt; columns;</a:t>
            </a:r>
            <a:endParaRPr lang="en-US" sz="1600"/>
          </a:p>
          <a:p>
            <a:r>
              <a:rPr lang="en-US" sz="1600"/>
              <a:t>r = [150:15:300] </a:t>
            </a:r>
            <a:r>
              <a:rPr lang="en-US" sz="1600">
                <a:sym typeface="+mn-ea"/>
              </a:rPr>
              <a:t>-&gt; rows</a:t>
            </a:r>
            <a:r>
              <a:rPr lang="en-US" sz="1600"/>
              <a:t>;</a:t>
            </a:r>
            <a:endParaRPr lang="en-US" sz="1600"/>
          </a:p>
          <a:p>
            <a:r>
              <a:rPr lang="en-US" sz="1600"/>
              <a:t>psi = 30°;</a:t>
            </a:r>
            <a:endParaRPr lang="en-US" sz="1600"/>
          </a:p>
          <a:p>
            <a:endParaRPr lang="en-US" sz="1600"/>
          </a:p>
          <a:p>
            <a:r>
              <a:rPr lang="en-US" sz="1600" b="1">
                <a:solidFill>
                  <a:srgbClr val="00B050"/>
                </a:solidFill>
                <a:sym typeface="+mn-ea"/>
              </a:rPr>
              <a:t>SET D</a:t>
            </a:r>
            <a:endParaRPr lang="en-US" sz="1600" b="1">
              <a:solidFill>
                <a:srgbClr val="00B050"/>
              </a:solidFill>
            </a:endParaRPr>
          </a:p>
          <a:p>
            <a:r>
              <a:rPr lang="en-US" sz="1600">
                <a:sym typeface="+mn-ea"/>
              </a:rPr>
              <a:t>11x5 ~100um x 100um membranes</a:t>
            </a:r>
            <a:endParaRPr lang="en-US" sz="1600"/>
          </a:p>
          <a:p>
            <a:r>
              <a:rPr lang="en-US" sz="1600">
                <a:sym typeface="+mn-ea"/>
              </a:rPr>
              <a:t>a = [1200:50:1400] -&gt; columns;</a:t>
            </a:r>
            <a:endParaRPr lang="en-US" sz="1600"/>
          </a:p>
          <a:p>
            <a:r>
              <a:rPr lang="en-US" sz="1600">
                <a:sym typeface="+mn-ea"/>
              </a:rPr>
              <a:t>r = [150:15:300] -&gt; rows;</a:t>
            </a:r>
            <a:endParaRPr lang="en-US" sz="1600"/>
          </a:p>
          <a:p>
            <a:r>
              <a:rPr lang="en-US" sz="1600">
                <a:sym typeface="+mn-ea"/>
              </a:rPr>
              <a:t>psi = 30°;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WPS Presentation</Application>
  <PresentationFormat>宽屏</PresentationFormat>
  <Paragraphs>85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SimSun</vt:lpstr>
      <vt:lpstr>Wingdings</vt:lpstr>
      <vt:lpstr>DejaVu Sans</vt:lpstr>
      <vt:lpstr>Arial Black</vt:lpstr>
      <vt:lpstr>Microsoft YaHei</vt:lpstr>
      <vt:lpstr>Droid Sans Fallback</vt:lpstr>
      <vt:lpstr>Arial Unicode MS</vt:lpstr>
      <vt:lpstr>SimSun</vt:lpstr>
      <vt:lpstr>SimSun</vt:lpstr>
      <vt:lpstr>OpenSymbol</vt:lpstr>
      <vt:lpstr>C059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ale</cp:lastModifiedBy>
  <cp:revision>10</cp:revision>
  <dcterms:created xsi:type="dcterms:W3CDTF">2026-05-08T08:27:28Z</dcterms:created>
  <dcterms:modified xsi:type="dcterms:W3CDTF">2026-05-08T08:27:28Z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